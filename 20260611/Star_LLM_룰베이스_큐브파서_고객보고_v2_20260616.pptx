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d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206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장표 1 · 반도체 FAB AMHS 정체 예측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325880" y="70408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데이터로 · LLM으로 룰베이스를 자동 생성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77240" y="1298448"/>
            <a:ext cx="10652760" cy="502920"/>
          </a:xfrm>
          <a:prstGeom prst="roundRect">
            <a:avLst>
              <a:gd name="adj" fmla="val 10909"/>
            </a:avLst>
          </a:prstGeom>
          <a:solidFill>
            <a:srgbClr val="F0FBFA"/>
          </a:solidFill>
          <a:ln/>
        </p:spPr>
      </p:sp>
      <p:pic>
        <p:nvPicPr>
          <p:cNvPr id="6" name="Image 1" descr="icons/d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26464"/>
            <a:ext cx="246888" cy="2468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12984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데이터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Fab Star 데이터 · 255개 컬럼 · 매분 1행 · 각 Fab(M14/M14B/M16A/M16B/M16HUB) 실운영 통합 · 입력 </a:t>
            </a:r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M16A_HUBROOM_PR.csv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77240" y="193852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8개 영역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2011680" y="1938528"/>
            <a:ext cx="1133856" cy="384048"/>
          </a:xfrm>
          <a:prstGeom prst="roundRect">
            <a:avLst>
              <a:gd name="adj" fmla="val 14286"/>
            </a:avLst>
          </a:prstGeom>
          <a:solidFill>
            <a:srgbClr val="0E2A3B"/>
          </a:solidFill>
          <a:ln/>
        </p:spPr>
      </p:sp>
      <p:sp>
        <p:nvSpPr>
          <p:cNvPr id="10" name="Text 6"/>
          <p:cNvSpPr/>
          <p:nvPr/>
        </p:nvSpPr>
        <p:spPr>
          <a:xfrm>
            <a:off x="2011680" y="1938528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M16HUB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00400" y="1938528"/>
            <a:ext cx="1133856" cy="384048"/>
          </a:xfrm>
          <a:prstGeom prst="roundRect">
            <a:avLst>
              <a:gd name="adj" fmla="val 14286"/>
            </a:avLst>
          </a:prstGeom>
          <a:solidFill>
            <a:srgbClr val="0E2A3B"/>
          </a:solidFill>
          <a:ln/>
        </p:spPr>
      </p:sp>
      <p:sp>
        <p:nvSpPr>
          <p:cNvPr id="12" name="Text 8"/>
          <p:cNvSpPr/>
          <p:nvPr/>
        </p:nvSpPr>
        <p:spPr>
          <a:xfrm>
            <a:off x="3200400" y="1938528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M14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89120" y="1938528"/>
            <a:ext cx="1133856" cy="384048"/>
          </a:xfrm>
          <a:prstGeom prst="roundRect">
            <a:avLst>
              <a:gd name="adj" fmla="val 14286"/>
            </a:avLst>
          </a:prstGeom>
          <a:solidFill>
            <a:srgbClr val="0E2A3B"/>
          </a:solidFill>
          <a:ln/>
        </p:spPr>
      </p:sp>
      <p:sp>
        <p:nvSpPr>
          <p:cNvPr id="14" name="Text 10"/>
          <p:cNvSpPr/>
          <p:nvPr/>
        </p:nvSpPr>
        <p:spPr>
          <a:xfrm>
            <a:off x="4389120" y="1938528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M14B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577840" y="1938528"/>
            <a:ext cx="1133856" cy="384048"/>
          </a:xfrm>
          <a:prstGeom prst="roundRect">
            <a:avLst>
              <a:gd name="adj" fmla="val 14286"/>
            </a:avLst>
          </a:prstGeom>
          <a:solidFill>
            <a:srgbClr val="0E2A3B"/>
          </a:solidFill>
          <a:ln/>
        </p:spPr>
      </p:sp>
      <p:sp>
        <p:nvSpPr>
          <p:cNvPr id="16" name="Text 12"/>
          <p:cNvSpPr/>
          <p:nvPr/>
        </p:nvSpPr>
        <p:spPr>
          <a:xfrm>
            <a:off x="5577840" y="1938528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M16A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766560" y="1938528"/>
            <a:ext cx="1133856" cy="384048"/>
          </a:xfrm>
          <a:prstGeom prst="roundRect">
            <a:avLst>
              <a:gd name="adj" fmla="val 14286"/>
            </a:avLst>
          </a:prstGeom>
          <a:solidFill>
            <a:srgbClr val="0E2A3B"/>
          </a:solidFill>
          <a:ln/>
        </p:spPr>
      </p:sp>
      <p:sp>
        <p:nvSpPr>
          <p:cNvPr id="18" name="Text 14"/>
          <p:cNvSpPr/>
          <p:nvPr/>
        </p:nvSpPr>
        <p:spPr>
          <a:xfrm>
            <a:off x="6766560" y="1938528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M16B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7955280" y="1938528"/>
            <a:ext cx="1133856" cy="384048"/>
          </a:xfrm>
          <a:prstGeom prst="roundRect">
            <a:avLst>
              <a:gd name="adj" fmla="val 14286"/>
            </a:avLst>
          </a:prstGeom>
          <a:solidFill>
            <a:srgbClr val="0E2A3B"/>
          </a:solidFill>
          <a:ln/>
        </p:spPr>
      </p:sp>
      <p:sp>
        <p:nvSpPr>
          <p:cNvPr id="20" name="Text 16"/>
          <p:cNvSpPr/>
          <p:nvPr/>
        </p:nvSpPr>
        <p:spPr>
          <a:xfrm>
            <a:off x="7955280" y="1938528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9144000" y="1938528"/>
            <a:ext cx="1133856" cy="384048"/>
          </a:xfrm>
          <a:prstGeom prst="roundRect">
            <a:avLst>
              <a:gd name="adj" fmla="val 14286"/>
            </a:avLst>
          </a:prstGeom>
          <a:solidFill>
            <a:srgbClr val="0E2A3B"/>
          </a:solidFill>
          <a:ln/>
        </p:spPr>
      </p:sp>
      <p:sp>
        <p:nvSpPr>
          <p:cNvPr id="22" name="Text 18"/>
          <p:cNvSpPr/>
          <p:nvPr/>
        </p:nvSpPr>
        <p:spPr>
          <a:xfrm>
            <a:off x="9144000" y="1938528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M16_PKT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10332720" y="1938528"/>
            <a:ext cx="1133856" cy="384048"/>
          </a:xfrm>
          <a:prstGeom prst="roundRect">
            <a:avLst>
              <a:gd name="adj" fmla="val 14286"/>
            </a:avLst>
          </a:prstGeom>
          <a:solidFill>
            <a:srgbClr val="0E2A3B"/>
          </a:solidFill>
          <a:ln/>
        </p:spPr>
      </p:sp>
      <p:sp>
        <p:nvSpPr>
          <p:cNvPr id="24" name="Text 20"/>
          <p:cNvSpPr/>
          <p:nvPr/>
        </p:nvSpPr>
        <p:spPr>
          <a:xfrm>
            <a:off x="10332720" y="1938528"/>
            <a:ext cx="1133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M16_WT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77240" y="2450592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26" name="Image 2" descr="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542032"/>
            <a:ext cx="182880" cy="1828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52728" y="2450592"/>
            <a:ext cx="5376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9개 룰 — 영역별 정체 감지 조건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852928"/>
          <a:ext cx="585216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508760"/>
                <a:gridCol w="2514600"/>
                <a:gridCol w="7772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감지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 컬럼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임계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R-A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반송 느려짐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AVGTOTALTIME1MIN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≥9.0분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R-A_sus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반송지연 지속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R-A 연속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R-B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대기작업 누적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{n}F_TO_HUB_JOB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+84/30분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R-B_fast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큐 급증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10분 변화량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R-C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리프터 역증가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LFT.6ABLxxxx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≥4대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R-D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저장정체·OHT포화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STORAGE_UTIL·OHTUTIL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STB≥99.3%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SLA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4분 초과 비율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TRANSPORT4MINOVERRATIO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≥14%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Sorter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분류기 LOT 대기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SORTERWAITCOUNTOVER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MAXCAPA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운영자 CAPA 변경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3F_CNV_MAXCAPA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50800" marR="381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Shape 23"/>
          <p:cNvSpPr/>
          <p:nvPr/>
        </p:nvSpPr>
        <p:spPr>
          <a:xfrm>
            <a:off x="6812280" y="2450592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30" name="Image 3" descr="icons/chart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2542032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87768" y="2450592"/>
            <a:ext cx="41422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실사례 — 2026-05-25 16:57 (실제 Star)</a:t>
            </a:r>
            <a:endParaRPr lang="en-US" sz="14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2852928"/>
          <a:ext cx="4617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77240"/>
                <a:gridCol w="914400"/>
                <a:gridCol w="777240"/>
                <a:gridCol w="14173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반송큐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반송시간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STB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16:50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1,199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13.2분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99.4%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신호 시작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16:53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1,256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12.2분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99.4%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16:57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1,312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13.7분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99.4%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4B8A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★위험 확정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17:01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1,318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19.0분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99.4%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지속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E2A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17:09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1,331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17.5분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92.9%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지속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25400" marT="12700" marB="127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Shape 25"/>
          <p:cNvSpPr/>
          <p:nvPr/>
        </p:nvSpPr>
        <p:spPr>
          <a:xfrm>
            <a:off x="6812280" y="4828032"/>
            <a:ext cx="4617720" cy="1078992"/>
          </a:xfrm>
          <a:prstGeom prst="roundRect">
            <a:avLst>
              <a:gd name="adj" fmla="val 5932"/>
            </a:avLst>
          </a:prstGeom>
          <a:solidFill>
            <a:srgbClr val="0E2A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4" name="Text 26"/>
          <p:cNvSpPr/>
          <p:nvPr/>
        </p:nvSpPr>
        <p:spPr>
          <a:xfrm>
            <a:off x="6995160" y="49377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16:57 예측 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 13.7분(임계 9.0의 1.5배) + STB 99.4% → R-A·R-D 동시 발동 → 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등급(162) 확정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 아직 운영자·시스템 알람 전.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777240" y="5989320"/>
            <a:ext cx="5852160" cy="530352"/>
          </a:xfrm>
          <a:prstGeom prst="roundRect">
            <a:avLst>
              <a:gd name="adj" fmla="val 10345"/>
            </a:avLst>
          </a:prstGeom>
          <a:solidFill>
            <a:srgbClr val="ECFDF5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6" name="Image 4" descr="icons/magi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6126480"/>
            <a:ext cx="237744" cy="23774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80160" y="5989320"/>
            <a:ext cx="5303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65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자동 생성  </a:t>
            </a:r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수동 정의 → LLM이 Star 패턴 학습해 </a:t>
            </a:r>
            <a:pPr indent="0" marL="0">
              <a:buNone/>
            </a:pPr>
            <a:r>
              <a:rPr lang="en-US" sz="98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8영역×9룰 자동 생성</a:t>
            </a:r>
            <a:endParaRPr lang="en-US" sz="980" dirty="0"/>
          </a:p>
        </p:txBody>
      </p:sp>
      <p:sp>
        <p:nvSpPr>
          <p:cNvPr id="38" name="Text 29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57200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325880" y="420624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장표 2 · 큐브 파서 (Cube Parser) — 2026-05-25 실사례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325880" y="704088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큐브 메시지 → 정답(Episode) → 예측 시각 검증 → 룰베이스 고도화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777240" y="137160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6" name="Image 1" descr="icons/ch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182880" cy="1828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52728" y="1371600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입력 — 큐브 메시지 통째로 (5/25, 발췌)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777240" y="1810512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0E2A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914400" y="1920240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16:14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600200" y="1920240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6AFS6201 IN 늘고 있는데요 ERROR있나요?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257800" y="192024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14400" y="2188159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17:04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600200" y="2188159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M16A ZT Max Capa 50%변경 부탁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257800" y="2188159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FB8C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action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914400" y="245607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18:34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1600200" y="245607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Deadlock 으로 OHT 정체중입니다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257800" y="245607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CA9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★fault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914400" y="2723998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19:51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600200" y="272399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m16a full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5257800" y="272399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914400" y="2991917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19:59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1600200" y="2991917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[봇] RED: CURRENTQCNT 2007 ≥ 2000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5257800" y="2991917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CA9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alarm</a:t>
            </a:r>
            <a:endParaRPr lang="en-US" sz="850" dirty="0"/>
          </a:p>
        </p:txBody>
      </p:sp>
      <p:sp>
        <p:nvSpPr>
          <p:cNvPr id="24" name="Text 20"/>
          <p:cNvSpPr/>
          <p:nvPr/>
        </p:nvSpPr>
        <p:spPr>
          <a:xfrm>
            <a:off x="914400" y="3259836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20:16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1600200" y="3259836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M16A Storage full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5257800" y="3259836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</a:t>
            </a:r>
            <a:endParaRPr lang="en-US" sz="850" dirty="0"/>
          </a:p>
        </p:txBody>
      </p:sp>
      <p:sp>
        <p:nvSpPr>
          <p:cNvPr id="27" name="Text 23"/>
          <p:cNvSpPr/>
          <p:nvPr/>
        </p:nvSpPr>
        <p:spPr>
          <a:xfrm>
            <a:off x="914400" y="3527755"/>
            <a:ext cx="6858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22:15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1600200" y="3527755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7E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M16B/M16A Storage 불안정. 관리 부탁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257800" y="3527755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fault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914400" y="378653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93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… 구간 내 수십 건 (장애 + 조치 + 일반 대화 + 시스템 알람 혼재)</a:t>
            </a:r>
            <a:endParaRPr lang="en-US" sz="850" dirty="0"/>
          </a:p>
        </p:txBody>
      </p:sp>
      <p:sp>
        <p:nvSpPr>
          <p:cNvPr id="31" name="Shape 27"/>
          <p:cNvSpPr/>
          <p:nvPr/>
        </p:nvSpPr>
        <p:spPr>
          <a:xfrm>
            <a:off x="777240" y="4224528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32" name="Image 2" descr="icons/lay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15968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252728" y="4224528"/>
            <a:ext cx="4919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LLM 파서 — 같은 장애를 Episode로 묶음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777240" y="4663440"/>
            <a:ext cx="5394960" cy="566928"/>
          </a:xfrm>
          <a:prstGeom prst="roundRect">
            <a:avLst>
              <a:gd name="adj" fmla="val 8065"/>
            </a:avLst>
          </a:prstGeom>
          <a:solidFill>
            <a:srgbClr val="FFF7ED"/>
          </a:solidFill>
          <a:ln/>
        </p:spPr>
      </p:sp>
      <p:sp>
        <p:nvSpPr>
          <p:cNvPr id="35" name="Text 30"/>
          <p:cNvSpPr/>
          <p:nvPr/>
        </p:nvSpPr>
        <p:spPr>
          <a:xfrm>
            <a:off x="914400" y="4663440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한계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메시지 1건=장애 1건 → 같은 장애 여러 채팅이 </a:t>
            </a:r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152건으로 부풀려짐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777240" y="5321808"/>
            <a:ext cx="5394960" cy="1005840"/>
          </a:xfrm>
          <a:prstGeom prst="roundRect">
            <a:avLst>
              <a:gd name="adj" fmla="val 5455"/>
            </a:avLst>
          </a:prstGeom>
          <a:solidFill>
            <a:srgbClr val="ECFDF5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960120" y="5413248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65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— Episode 1건  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18:34~22:15 · 정체·병목 · M16A/HUB 저장 정체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CAPA변경·일반대화는 거품으로 자동 제외</a:t>
            </a:r>
            <a:endParaRPr lang="en-US" sz="1300" dirty="0"/>
          </a:p>
        </p:txBody>
      </p:sp>
      <p:sp>
        <p:nvSpPr>
          <p:cNvPr id="38" name="Shape 33"/>
          <p:cNvSpPr/>
          <p:nvPr/>
        </p:nvSpPr>
        <p:spPr>
          <a:xfrm>
            <a:off x="6400800" y="1371600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39" name="Image 3" descr="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463040"/>
            <a:ext cx="182880" cy="18288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876288" y="1371600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★ 언제 예측했나 — 룰베이스 vs 운영자 vs 시스템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6400800" y="1810512"/>
            <a:ext cx="5029200" cy="676656"/>
          </a:xfrm>
          <a:prstGeom prst="roundRect">
            <a:avLst>
              <a:gd name="adj" fmla="val 8108"/>
            </a:avLst>
          </a:prstGeom>
          <a:solidFill>
            <a:srgbClr val="F0FBFA"/>
          </a:solidFill>
          <a:ln/>
        </p:spPr>
      </p:sp>
      <p:sp>
        <p:nvSpPr>
          <p:cNvPr id="42" name="Shape 36"/>
          <p:cNvSpPr/>
          <p:nvPr/>
        </p:nvSpPr>
        <p:spPr>
          <a:xfrm>
            <a:off x="6400800" y="1810512"/>
            <a:ext cx="91440" cy="67665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3" name="Shape 37"/>
          <p:cNvSpPr/>
          <p:nvPr/>
        </p:nvSpPr>
        <p:spPr>
          <a:xfrm>
            <a:off x="6601968" y="2029968"/>
            <a:ext cx="237744" cy="23774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4" name="Text 38"/>
          <p:cNvSpPr/>
          <p:nvPr/>
        </p:nvSpPr>
        <p:spPr>
          <a:xfrm>
            <a:off x="6949440" y="1865376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16:57</a:t>
            </a:r>
            <a:endParaRPr lang="en-US" sz="1500" dirty="0"/>
          </a:p>
        </p:txBody>
      </p:sp>
      <p:sp>
        <p:nvSpPr>
          <p:cNvPr id="45" name="Text 39"/>
          <p:cNvSpPr/>
          <p:nvPr/>
        </p:nvSpPr>
        <p:spPr>
          <a:xfrm>
            <a:off x="6949440" y="21762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8275320" y="1883664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룰베이스 예측 (Star 데이터)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8275320" y="21762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반송 13.7분·STB 99.4% → 위험(162) 확정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6400800" y="2560320"/>
            <a:ext cx="5029200" cy="676656"/>
          </a:xfrm>
          <a:prstGeom prst="roundRect">
            <a:avLst>
              <a:gd name="adj" fmla="val 8108"/>
            </a:avLst>
          </a:prstGeom>
          <a:solidFill>
            <a:srgbClr val="F0FBFA"/>
          </a:solidFill>
          <a:ln/>
        </p:spPr>
      </p:sp>
      <p:sp>
        <p:nvSpPr>
          <p:cNvPr id="49" name="Shape 43"/>
          <p:cNvSpPr/>
          <p:nvPr/>
        </p:nvSpPr>
        <p:spPr>
          <a:xfrm>
            <a:off x="6400800" y="2560320"/>
            <a:ext cx="91440" cy="67665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0" name="Shape 44"/>
          <p:cNvSpPr/>
          <p:nvPr/>
        </p:nvSpPr>
        <p:spPr>
          <a:xfrm>
            <a:off x="6601968" y="2779776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1" name="Text 45"/>
          <p:cNvSpPr/>
          <p:nvPr/>
        </p:nvSpPr>
        <p:spPr>
          <a:xfrm>
            <a:off x="6949440" y="2615184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18:34</a:t>
            </a:r>
            <a:endParaRPr lang="en-US" sz="1500" dirty="0"/>
          </a:p>
        </p:txBody>
      </p:sp>
      <p:sp>
        <p:nvSpPr>
          <p:cNvPr id="52" name="Text 46"/>
          <p:cNvSpPr/>
          <p:nvPr/>
        </p:nvSpPr>
        <p:spPr>
          <a:xfrm>
            <a:off x="6949440" y="29260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+1시간 38분</a:t>
            </a:r>
            <a:endParaRPr lang="en-US" sz="950" dirty="0"/>
          </a:p>
        </p:txBody>
      </p:sp>
      <p:sp>
        <p:nvSpPr>
          <p:cNvPr id="53" name="Text 47"/>
          <p:cNvSpPr/>
          <p:nvPr/>
        </p:nvSpPr>
        <p:spPr>
          <a:xfrm>
            <a:off x="8275320" y="26334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 인지 (큐브 채팅)</a:t>
            </a:r>
            <a:endParaRPr lang="en-US" sz="1050" dirty="0"/>
          </a:p>
        </p:txBody>
      </p:sp>
      <p:sp>
        <p:nvSpPr>
          <p:cNvPr id="54" name="Text 48"/>
          <p:cNvSpPr/>
          <p:nvPr/>
        </p:nvSpPr>
        <p:spPr>
          <a:xfrm>
            <a:off x="8275320" y="29260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"Deadlock 으로 OHT 정체중"</a:t>
            </a:r>
            <a:endParaRPr lang="en-US" sz="900" dirty="0"/>
          </a:p>
        </p:txBody>
      </p:sp>
      <p:sp>
        <p:nvSpPr>
          <p:cNvPr id="55" name="Shape 49"/>
          <p:cNvSpPr/>
          <p:nvPr/>
        </p:nvSpPr>
        <p:spPr>
          <a:xfrm>
            <a:off x="6400800" y="3310128"/>
            <a:ext cx="5029200" cy="676656"/>
          </a:xfrm>
          <a:prstGeom prst="roundRect">
            <a:avLst>
              <a:gd name="adj" fmla="val 8108"/>
            </a:avLst>
          </a:prstGeom>
          <a:solidFill>
            <a:srgbClr val="F0FBFA"/>
          </a:solidFill>
          <a:ln/>
        </p:spPr>
      </p:sp>
      <p:sp>
        <p:nvSpPr>
          <p:cNvPr id="56" name="Shape 50"/>
          <p:cNvSpPr/>
          <p:nvPr/>
        </p:nvSpPr>
        <p:spPr>
          <a:xfrm>
            <a:off x="6400800" y="3310128"/>
            <a:ext cx="91440" cy="67665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7" name="Shape 51"/>
          <p:cNvSpPr/>
          <p:nvPr/>
        </p:nvSpPr>
        <p:spPr>
          <a:xfrm>
            <a:off x="6601968" y="3529584"/>
            <a:ext cx="237744" cy="23774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8" name="Text 52"/>
          <p:cNvSpPr/>
          <p:nvPr/>
        </p:nvSpPr>
        <p:spPr>
          <a:xfrm>
            <a:off x="6949440" y="3364992"/>
            <a:ext cx="1188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19:59</a:t>
            </a:r>
            <a:endParaRPr lang="en-US" sz="1500" dirty="0"/>
          </a:p>
        </p:txBody>
      </p:sp>
      <p:sp>
        <p:nvSpPr>
          <p:cNvPr id="59" name="Text 53"/>
          <p:cNvSpPr/>
          <p:nvPr/>
        </p:nvSpPr>
        <p:spPr>
          <a:xfrm>
            <a:off x="6949440" y="36758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+3시간 02분</a:t>
            </a:r>
            <a:endParaRPr lang="en-US" sz="950" dirty="0"/>
          </a:p>
        </p:txBody>
      </p:sp>
      <p:sp>
        <p:nvSpPr>
          <p:cNvPr id="60" name="Text 54"/>
          <p:cNvSpPr/>
          <p:nvPr/>
        </p:nvSpPr>
        <p:spPr>
          <a:xfrm>
            <a:off x="8275320" y="33832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RED 알람</a:t>
            </a:r>
            <a:endParaRPr lang="en-US" sz="1050" dirty="0"/>
          </a:p>
        </p:txBody>
      </p:sp>
      <p:sp>
        <p:nvSpPr>
          <p:cNvPr id="61" name="Text 55"/>
          <p:cNvSpPr/>
          <p:nvPr/>
        </p:nvSpPr>
        <p:spPr>
          <a:xfrm>
            <a:off x="8275320" y="36758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 CURRENTQCNT 2,007 ≥ 2,000</a:t>
            </a:r>
            <a:endParaRPr lang="en-US" sz="900" dirty="0"/>
          </a:p>
        </p:txBody>
      </p:sp>
      <p:sp>
        <p:nvSpPr>
          <p:cNvPr id="62" name="Shape 56"/>
          <p:cNvSpPr/>
          <p:nvPr/>
        </p:nvSpPr>
        <p:spPr>
          <a:xfrm>
            <a:off x="6400800" y="4114800"/>
            <a:ext cx="5029200" cy="548640"/>
          </a:xfrm>
          <a:prstGeom prst="roundRect">
            <a:avLst>
              <a:gd name="adj" fmla="val 10000"/>
            </a:avLst>
          </a:prstGeom>
          <a:solidFill>
            <a:srgbClr val="0E2A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3" name="Text 57"/>
          <p:cNvSpPr/>
          <p:nvPr/>
        </p:nvSpPr>
        <p:spPr>
          <a:xfrm>
            <a:off x="6583680" y="41148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운영자보다 1시간 38분 · 시스템보다 3시간 02분 먼저</a:t>
            </a:r>
            <a:endParaRPr lang="en-US" sz="1250" dirty="0"/>
          </a:p>
        </p:txBody>
      </p:sp>
      <p:sp>
        <p:nvSpPr>
          <p:cNvPr id="64" name="Shape 58"/>
          <p:cNvSpPr/>
          <p:nvPr/>
        </p:nvSpPr>
        <p:spPr>
          <a:xfrm>
            <a:off x="6400800" y="4828032"/>
            <a:ext cx="365760" cy="365760"/>
          </a:xfrm>
          <a:prstGeom prst="ellipse">
            <a:avLst/>
          </a:prstGeom>
          <a:solidFill>
            <a:srgbClr val="0E2A3B"/>
          </a:solidFill>
          <a:ln/>
        </p:spPr>
      </p:sp>
      <p:pic>
        <p:nvPicPr>
          <p:cNvPr id="65" name="Image 4" descr="icons/sync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919472"/>
            <a:ext cx="182880" cy="182880"/>
          </a:xfrm>
          <a:prstGeom prst="rect">
            <a:avLst/>
          </a:prstGeom>
        </p:spPr>
      </p:pic>
      <p:sp>
        <p:nvSpPr>
          <p:cNvPr id="66" name="Text 59"/>
          <p:cNvSpPr/>
          <p:nvPr/>
        </p:nvSpPr>
        <p:spPr>
          <a:xfrm>
            <a:off x="6876288" y="4828032"/>
            <a:ext cx="4553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최종 목적 — 룰베이스와의 시너지</a:t>
            </a:r>
            <a:endParaRPr lang="en-US" sz="1400" dirty="0"/>
          </a:p>
        </p:txBody>
      </p:sp>
      <p:sp>
        <p:nvSpPr>
          <p:cNvPr id="67" name="Shape 60"/>
          <p:cNvSpPr/>
          <p:nvPr/>
        </p:nvSpPr>
        <p:spPr>
          <a:xfrm>
            <a:off x="6400800" y="5266944"/>
            <a:ext cx="5029200" cy="1060704"/>
          </a:xfrm>
          <a:prstGeom prst="roundRect">
            <a:avLst>
              <a:gd name="adj" fmla="val 5172"/>
            </a:avLst>
          </a:prstGeom>
          <a:solidFill>
            <a:srgbClr val="ECFDF5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6583680" y="5266944"/>
            <a:ext cx="4709160" cy="10607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65F4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큐브 파서 정답(18:34 Episode)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을 그 시각 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E2A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 데이터와 매칭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16:57부터 STB 99.4%·반송 13.7분이 "정답 직전 패턴"임을 확인 → </a:t>
            </a:r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4B8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룰베이스가 이 패턴을 학습해 더 일찍 예측</a:t>
            </a:r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하도록 고도화.</a:t>
            </a:r>
            <a:endParaRPr lang="en-US" sz="1000" dirty="0"/>
          </a:p>
        </p:txBody>
      </p:sp>
      <p:sp>
        <p:nvSpPr>
          <p:cNvPr id="69" name="Text 62"/>
          <p:cNvSpPr/>
          <p:nvPr/>
        </p:nvSpPr>
        <p:spPr>
          <a:xfrm>
            <a:off x="115058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 데이터 + LLM 룰베이스 / 큐브 파서 (고객 보고 2장)</dc:title>
  <dc:subject>PptxGenJS Presentation</dc:subject>
  <dc:creator>John Forrest</dc:creator>
  <cp:lastModifiedBy>John Forrest</cp:lastModifiedBy>
  <cp:revision>1</cp:revision>
  <dcterms:created xsi:type="dcterms:W3CDTF">2026-06-16T09:30:21Z</dcterms:created>
  <dcterms:modified xsi:type="dcterms:W3CDTF">2026-06-16T09:30:21Z</dcterms:modified>
</cp:coreProperties>
</file>