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097280"/>
            <a:ext cx="3291840" cy="3291840"/>
          </a:xfrm>
          <a:prstGeom prst="ellipse">
            <a:avLst/>
          </a:prstGeom>
          <a:solidFill>
            <a:srgbClr val="14B8A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457200"/>
            <a:ext cx="1554480" cy="1554480"/>
          </a:xfrm>
          <a:prstGeom prst="ellipse">
            <a:avLst/>
          </a:prstGeom>
          <a:solidFill>
            <a:srgbClr val="5EEAD4">
              <a:alpha val="20000"/>
            </a:srgbClr>
          </a:solidFill>
          <a:ln/>
        </p:spPr>
      </p:sp>
      <p:pic>
        <p:nvPicPr>
          <p:cNvPr id="4" name="Image 0" descr="icons/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80467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 FAB · AMHS 반송 정체 사전 예측 — 상세 설명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HUBROOM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상세 설명서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41248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했고 · 무엇을 이용했고 · 어떻게 만들었고 · 무엇이 바뀌었나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34340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480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051560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룰베이스 고도화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051560" y="54223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hubroom_predictor.py v6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434340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4480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572000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운영로그 파서 V2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0" y="54223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정답지(Episode)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63840" y="434340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2440" y="4480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092440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근처 HID 현황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92440" y="54223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17기 진입·포화도 분석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2026-06-16   ·   검증기간 2026-04 ~ 05 (56일)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1 · 룰베이스 고도화  (hubroom_predictor.py)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했나 · 무엇을 이용했나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2668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했나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68680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이용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4692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10" name="Text 7"/>
          <p:cNvSpPr/>
          <p:nvPr/>
        </p:nvSpPr>
        <p:spPr>
          <a:xfrm>
            <a:off x="964692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60704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04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141732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4" name="Image 1" descr="icons/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2728" y="1417320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— 기존 룰베이스의 문제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77240" y="1874520"/>
            <a:ext cx="5212080" cy="749808"/>
          </a:xfrm>
          <a:prstGeom prst="roundRect">
            <a:avLst>
              <a:gd name="adj" fmla="val 6098"/>
            </a:avLst>
          </a:prstGeom>
          <a:solidFill>
            <a:srgbClr val="FFF7ED"/>
          </a:solidFill>
          <a:ln/>
        </p:spPr>
      </p:sp>
      <p:sp>
        <p:nvSpPr>
          <p:cNvPr id="17" name="Text 13"/>
          <p:cNvSpPr/>
          <p:nvPr/>
        </p:nvSpPr>
        <p:spPr>
          <a:xfrm>
            <a:off x="960120" y="19476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홍수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60120" y="22402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 잠깐 떨어졌다 오르면 한 정체를 여러 사건으로 쪼갬 → 오탐 폭증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77240" y="2715768"/>
            <a:ext cx="5212080" cy="749808"/>
          </a:xfrm>
          <a:prstGeom prst="roundRect">
            <a:avLst>
              <a:gd name="adj" fmla="val 6098"/>
            </a:avLst>
          </a:prstGeom>
          <a:solidFill>
            <a:srgbClr val="FFF7ED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" y="27889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혼란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960120" y="30815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점수→등급 매핑이 뒤죽박죽 (경계가 주의보다 낮음)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77240" y="3557016"/>
            <a:ext cx="5212080" cy="749808"/>
          </a:xfrm>
          <a:prstGeom prst="roundRect">
            <a:avLst>
              <a:gd name="adj" fmla="val 6098"/>
            </a:avLst>
          </a:prstGeom>
          <a:solidFill>
            <a:srgbClr val="FFF7ED"/>
          </a:solidFill>
          <a:ln/>
        </p:spPr>
      </p:sp>
      <p:sp>
        <p:nvSpPr>
          <p:cNvPr id="23" name="Text 19"/>
          <p:cNvSpPr/>
          <p:nvPr/>
        </p:nvSpPr>
        <p:spPr>
          <a:xfrm>
            <a:off x="960120" y="36301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사건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960120" y="392277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신호도 사건으로 기록 → 운영자 피로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77240" y="4398264"/>
            <a:ext cx="5212080" cy="749808"/>
          </a:xfrm>
          <a:prstGeom prst="roundRect">
            <a:avLst>
              <a:gd name="adj" fmla="val 6098"/>
            </a:avLst>
          </a:prstGeom>
          <a:solidFill>
            <a:srgbClr val="FFF7ED"/>
          </a:solidFill>
          <a:ln/>
        </p:spPr>
      </p:sp>
      <p:sp>
        <p:nvSpPr>
          <p:cNvPr id="26" name="Text 22"/>
          <p:cNvSpPr/>
          <p:nvPr/>
        </p:nvSpPr>
        <p:spPr>
          <a:xfrm>
            <a:off x="960120" y="44714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막연한 알람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960120" y="47640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"어디서 무슨 정체인지" 라벨 없음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77240" y="5239512"/>
            <a:ext cx="5212080" cy="749808"/>
          </a:xfrm>
          <a:prstGeom prst="roundRect">
            <a:avLst>
              <a:gd name="adj" fmla="val 6098"/>
            </a:avLst>
          </a:prstGeom>
          <a:solidFill>
            <a:srgbClr val="FFF7ED"/>
          </a:solidFill>
          <a:ln/>
        </p:spPr>
      </p:sp>
      <p:sp>
        <p:nvSpPr>
          <p:cNvPr id="29" name="Text 25"/>
          <p:cNvSpPr/>
          <p:nvPr/>
        </p:nvSpPr>
        <p:spPr>
          <a:xfrm>
            <a:off x="960120" y="53126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불명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960120" y="56052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사건이 방금 떴는지, 오래됐는지 알 수 없음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263640" y="141732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2" name="Image 2" descr="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739128" y="1417320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이용 — 입력 데이터 &amp; 룰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6263640" y="1874520"/>
            <a:ext cx="5166360" cy="1051560"/>
          </a:xfrm>
          <a:prstGeom prst="roundRect">
            <a:avLst>
              <a:gd name="adj" fmla="val 5217"/>
            </a:avLst>
          </a:prstGeom>
          <a:solidFill>
            <a:srgbClr val="F0FBFA"/>
          </a:solidFill>
          <a:ln/>
        </p:spPr>
      </p:sp>
      <p:sp>
        <p:nvSpPr>
          <p:cNvPr id="35" name="Text 30"/>
          <p:cNvSpPr/>
          <p:nvPr/>
        </p:nvSpPr>
        <p:spPr>
          <a:xfrm>
            <a:off x="6446520" y="199339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M16A_HUBROOM_PR.csv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(설비 센서, 매분 수집)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영역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M16HUB·M14·M14B·M16A·M16B·M16·M16_PKT·M16_WT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263640" y="3063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룰로 다각 판정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263640" y="3401568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0E2A3B"/>
          </a:solidFill>
          <a:ln/>
        </p:spPr>
      </p:sp>
      <p:sp>
        <p:nvSpPr>
          <p:cNvPr id="38" name="Text 33"/>
          <p:cNvSpPr/>
          <p:nvPr/>
        </p:nvSpPr>
        <p:spPr>
          <a:xfrm>
            <a:off x="6336792" y="340156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R-A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반송시간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8019288" y="3401568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0E2A3B"/>
          </a:solidFill>
          <a:ln/>
        </p:spPr>
      </p:sp>
      <p:sp>
        <p:nvSpPr>
          <p:cNvPr id="40" name="Text 35"/>
          <p:cNvSpPr/>
          <p:nvPr/>
        </p:nvSpPr>
        <p:spPr>
          <a:xfrm>
            <a:off x="8092440" y="340156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R-B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누적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9774936" y="3401568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0E2A3B"/>
          </a:solidFill>
          <a:ln/>
        </p:spPr>
      </p:sp>
      <p:sp>
        <p:nvSpPr>
          <p:cNvPr id="42" name="Text 37"/>
          <p:cNvSpPr/>
          <p:nvPr/>
        </p:nvSpPr>
        <p:spPr>
          <a:xfrm>
            <a:off x="9848088" y="340156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R-C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역증가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263640" y="3968496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0E2A3B"/>
          </a:solidFill>
          <a:ln/>
        </p:spPr>
      </p:sp>
      <p:sp>
        <p:nvSpPr>
          <p:cNvPr id="44" name="Text 39"/>
          <p:cNvSpPr/>
          <p:nvPr/>
        </p:nvSpPr>
        <p:spPr>
          <a:xfrm>
            <a:off x="6336792" y="39684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R-D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저장·OHT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019288" y="3968496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0E2A3B"/>
          </a:solidFill>
          <a:ln/>
        </p:spPr>
      </p:sp>
      <p:sp>
        <p:nvSpPr>
          <p:cNvPr id="46" name="Text 41"/>
          <p:cNvSpPr/>
          <p:nvPr/>
        </p:nvSpPr>
        <p:spPr>
          <a:xfrm>
            <a:off x="8092440" y="39684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초과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9774936" y="3968496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0E2A3B"/>
          </a:solidFill>
          <a:ln/>
        </p:spPr>
      </p:sp>
      <p:sp>
        <p:nvSpPr>
          <p:cNvPr id="48" name="Text 43"/>
          <p:cNvSpPr/>
          <p:nvPr/>
        </p:nvSpPr>
        <p:spPr>
          <a:xfrm>
            <a:off x="9848088" y="39684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Sorter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대기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6263640" y="4709160"/>
            <a:ext cx="5166360" cy="1627632"/>
          </a:xfrm>
          <a:prstGeom prst="roundRect">
            <a:avLst>
              <a:gd name="adj" fmla="val 393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0" name="Text 45"/>
          <p:cNvSpPr/>
          <p:nvPr/>
        </p:nvSpPr>
        <p:spPr>
          <a:xfrm>
            <a:off x="6492240" y="48646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— 왜 조합 판정인가</a:t>
            </a:r>
            <a:endParaRPr lang="en-US" sz="1250" dirty="0"/>
          </a:p>
        </p:txBody>
      </p:sp>
      <p:sp>
        <p:nvSpPr>
          <p:cNvPr id="51" name="Text 46"/>
          <p:cNvSpPr/>
          <p:nvPr/>
        </p:nvSpPr>
        <p:spPr>
          <a:xfrm>
            <a:off x="6492240" y="52120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지표만으론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 변동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정체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구분 못 함.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반송시간(느림) + 큐(쌓임) + 저장(가득) + SLA(체감)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을 조합해 판정.</a:t>
            </a:r>
            <a:endParaRPr lang="en-US" sz="1250" dirty="0"/>
          </a:p>
        </p:txBody>
      </p:sp>
      <p:sp>
        <p:nvSpPr>
          <p:cNvPr id="52" name="Text 47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1 · 룰베이스 고도화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만들었나 · 무엇이 바뀌었나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2668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했나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68680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이용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4692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964692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60704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04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141732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4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2728" y="1417320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— v6 핵심 개선 5가지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77240" y="1847088"/>
            <a:ext cx="5212080" cy="768096"/>
          </a:xfrm>
          <a:prstGeom prst="roundRect">
            <a:avLst>
              <a:gd name="adj" fmla="val 5952"/>
            </a:avLst>
          </a:prstGeom>
          <a:solidFill>
            <a:srgbClr val="F0FBFA"/>
          </a:solidFill>
          <a:ln/>
        </p:spPr>
      </p:sp>
      <p:sp>
        <p:nvSpPr>
          <p:cNvPr id="17" name="Text 13"/>
          <p:cNvSpPr/>
          <p:nvPr/>
        </p:nvSpPr>
        <p:spPr>
          <a:xfrm>
            <a:off x="896112" y="19385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371600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진동 흡수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371600" y="2231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판정 간격 10분→60분. 잠깐 떨어졌다 다시 올라도 같은 사건(재발 +1)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77240" y="2688336"/>
            <a:ext cx="5212080" cy="768096"/>
          </a:xfrm>
          <a:prstGeom prst="roundRect">
            <a:avLst>
              <a:gd name="adj" fmla="val 5952"/>
            </a:avLst>
          </a:prstGeom>
          <a:solidFill>
            <a:srgbClr val="F0FBFA"/>
          </a:solidFill>
          <a:ln/>
        </p:spPr>
      </p:sp>
      <p:sp>
        <p:nvSpPr>
          <p:cNvPr id="21" name="Text 17"/>
          <p:cNvSpPr/>
          <p:nvPr/>
        </p:nvSpPr>
        <p:spPr>
          <a:xfrm>
            <a:off x="896112" y="277977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371600" y="27797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등급 재정의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371600" y="30723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관심100·주의120·경계130·위험160·발동220 (경보 체계 순서)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77240" y="3529584"/>
            <a:ext cx="5212080" cy="768096"/>
          </a:xfrm>
          <a:prstGeom prst="roundRect">
            <a:avLst>
              <a:gd name="adj" fmla="val 5952"/>
            </a:avLst>
          </a:prstGeom>
          <a:solidFill>
            <a:srgbClr val="F0FBFA"/>
          </a:solidFill>
          <a:ln/>
        </p:spPr>
      </p:sp>
      <p:sp>
        <p:nvSpPr>
          <p:cNvPr id="25" name="Text 21"/>
          <p:cNvSpPr/>
          <p:nvPr/>
        </p:nvSpPr>
        <p:spPr>
          <a:xfrm>
            <a:off x="896112" y="36210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371600" y="36210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차단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371600" y="3913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최고점수 100 미만은 사건 기록 X (모니터링만)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77240" y="4370832"/>
            <a:ext cx="5212080" cy="768096"/>
          </a:xfrm>
          <a:prstGeom prst="roundRect">
            <a:avLst>
              <a:gd name="adj" fmla="val 5952"/>
            </a:avLst>
          </a:prstGeom>
          <a:solidFill>
            <a:srgbClr val="F0FBFA"/>
          </a:solidFill>
          <a:ln/>
        </p:spPr>
      </p:sp>
      <p:sp>
        <p:nvSpPr>
          <p:cNvPr id="29" name="Text 25"/>
          <p:cNvSpPr/>
          <p:nvPr/>
        </p:nvSpPr>
        <p:spPr>
          <a:xfrm>
            <a:off x="896112" y="44622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1371600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장애유형 자동 라벨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137160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HUB-FAB정체 / HUB-리프터역증가 / M14-Sorter대기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777240" y="5212080"/>
            <a:ext cx="5212080" cy="768096"/>
          </a:xfrm>
          <a:prstGeom prst="roundRect">
            <a:avLst>
              <a:gd name="adj" fmla="val 5952"/>
            </a:avLst>
          </a:prstGeom>
          <a:solidFill>
            <a:srgbClr val="F0FBFA"/>
          </a:solidFill>
          <a:ln/>
        </p:spPr>
      </p:sp>
      <p:sp>
        <p:nvSpPr>
          <p:cNvPr id="33" name="Text 29"/>
          <p:cNvSpPr/>
          <p:nvPr/>
        </p:nvSpPr>
        <p:spPr>
          <a:xfrm>
            <a:off x="896112" y="5303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137160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지속성·재발생 컬럼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1371600" y="5596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N분 · 재발 N회 → 사건의 "나이" 즉시 파악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263640" y="141732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7" name="Image 2" descr="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182880" cy="1828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739128" y="1417320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— Before → After (4~5월 실데이터)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47088"/>
          <a:ext cx="51663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사전예측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v4.1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-1분 (늦음)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정답지 정정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임계 조정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v6 (현재)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+32분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4"/>
          <p:cNvSpPr/>
          <p:nvPr/>
        </p:nvSpPr>
        <p:spPr>
          <a:xfrm>
            <a:off x="6263640" y="40690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v6 등급별 성능 — 등급 높을수록 정밀·조기 감지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370832"/>
          <a:ext cx="51663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17320"/>
                <a:gridCol w="1965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사전예측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🔵 관심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+17분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🟡 주의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+18분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🟠 경계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+45분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🔴 위험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+64분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42" name="Shape 35"/>
          <p:cNvSpPr/>
          <p:nvPr/>
        </p:nvSpPr>
        <p:spPr>
          <a:xfrm>
            <a:off x="777240" y="6126480"/>
            <a:ext cx="1065276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960120" y="6126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깨달음 —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임계값이 아니라 </a:t>
            </a:r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연속성(진동)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gap 60분으로 진동을 흡수하니 정밀도 5배(15→52%), 사전예측 음수→+32분 전환.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2 · 운영로그 파서 V2  (운영로그_파서_v2.py)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했나 · 무엇을 이용 · 어떻게 만들었나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2668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했나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68680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이용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4692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964692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60704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04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138988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— 룰베이스 채점엔 "실제 장애 정답지"가 필요. 정답은 운영자 메신저에 있지만 사람 말이라 그대로 못 씀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1783080"/>
            <a:ext cx="3456432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186537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거품(과대 카운트)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21579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1건에 여러 채팅 → 메시지=장애로 세서 152건으로 부풀려짐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70832" y="1783080"/>
            <a:ext cx="3456432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/>
        </p:spPr>
      </p:sp>
      <p:sp>
        <p:nvSpPr>
          <p:cNvPr id="18" name="Text 15"/>
          <p:cNvSpPr/>
          <p:nvPr/>
        </p:nvSpPr>
        <p:spPr>
          <a:xfrm>
            <a:off x="4553712" y="186537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 없음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53712" y="21579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종류 장애인지 분류 안 됨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64424" y="1783080"/>
            <a:ext cx="3456432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/>
        </p:spPr>
      </p:sp>
      <p:sp>
        <p:nvSpPr>
          <p:cNvPr id="21" name="Text 18"/>
          <p:cNvSpPr/>
          <p:nvPr/>
        </p:nvSpPr>
        <p:spPr>
          <a:xfrm>
            <a:off x="8147304" y="186537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복구/조치 혼재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47304" y="21579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"조치 완료" 같은 복구 메시지도 장애로 카운트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7240" y="2834640"/>
            <a:ext cx="10652760" cy="777240"/>
          </a:xfrm>
          <a:prstGeom prst="roundRect">
            <a:avLst>
              <a:gd name="adj" fmla="val 8235"/>
            </a:avLst>
          </a:prstGeom>
          <a:solidFill>
            <a:srgbClr val="0E2A3B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2834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"Deadlock 으로 OHT 정체중입니다"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0" y="28346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126480" y="28346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  </a:t>
            </a:r>
            <a:pPr indent="0" marL="0">
              <a:buNone/>
            </a:pPr>
            <a:r>
              <a:rPr lang="en-US" sz="13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18:34 / 유형 정체·병목 / 장비 OHT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77240" y="379476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8" name="Image 1" descr="icons/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86200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252728" y="3794760"/>
            <a:ext cx="10131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— 채팅을 장애 단위(Episode)로 묶는 8단계 (핵심 4)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77240" y="42519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978408" y="4434840"/>
            <a:ext cx="548640" cy="54864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2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53712"/>
            <a:ext cx="310896" cy="31089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6012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6종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960120" y="54132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 / action / recovery / rollback / cancel / normal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465576" y="42519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666744" y="4434840"/>
            <a:ext cx="548640" cy="54864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7" name="Image 3" descr="icons/ta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553712"/>
            <a:ext cx="310896" cy="31089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648456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장애유형 7종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3648456" y="54132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정체·병목 / 브릿지 / 리프터 / CNV / MLUD / 통신·에러 / 기타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153912" y="42519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355080" y="4434840"/>
            <a:ext cx="548640" cy="54864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42" name="Image 4" descr="icons/lay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4553712"/>
            <a:ext cx="310896" cy="31089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336792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 묶기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336792" y="54132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장비 + 30분 윈도우 = 1개 장애 (거품 제거 핵심)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8842248" y="42519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043416" y="4434840"/>
            <a:ext cx="548640" cy="54864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47" name="Image 5" descr="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4553712"/>
            <a:ext cx="310896" cy="31089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025128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처리</a:t>
            </a:r>
            <a:endParaRPr lang="en-US" sz="1300" dirty="0"/>
          </a:p>
        </p:txBody>
      </p:sp>
      <p:sp>
        <p:nvSpPr>
          <p:cNvPr id="49" name="Text 41"/>
          <p:cNvSpPr/>
          <p:nvPr/>
        </p:nvSpPr>
        <p:spPr>
          <a:xfrm>
            <a:off x="9025128" y="54132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orphan(선행 fault 없는 복구) · CAPA변경(운영자 조치)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2 · 운영로그 파서 V2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바뀌었나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2668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했나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68680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이용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4692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10" name="Text 7"/>
          <p:cNvSpPr/>
          <p:nvPr/>
        </p:nvSpPr>
        <p:spPr>
          <a:xfrm>
            <a:off x="964692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60704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04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146304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4" name="Image 1" descr="icons/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2728" y="1463040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거품 제거 효과 (5월 실측)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9164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 (메시지)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 (Episode)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카운트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107건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거품 제거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감소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유형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7종 분류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복구/조치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777240" y="443484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1005840" y="45902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사례 (5/25)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05840" y="49377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원본 62건 메시지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파서 V2  (orphan 6 · CAPA변경 10 제외)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장애 4건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263640" y="146304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1" name="Image 2" descr="icons/c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39128" y="1463040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 출력 컬럼 — 무엇을 왜 담았나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263640" y="1920240"/>
            <a:ext cx="5166360" cy="676656"/>
          </a:xfrm>
          <a:prstGeom prst="roundRect">
            <a:avLst>
              <a:gd name="adj" fmla="val 6757"/>
            </a:avLst>
          </a:prstGeom>
          <a:solidFill>
            <a:srgbClr val="F0FBFA"/>
          </a:solidFill>
          <a:ln/>
        </p:spPr>
      </p:sp>
      <p:sp>
        <p:nvSpPr>
          <p:cNvPr id="24" name="Text 18"/>
          <p:cNvSpPr/>
          <p:nvPr/>
        </p:nvSpPr>
        <p:spPr>
          <a:xfrm>
            <a:off x="6446520" y="19842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start_time / end_time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46520" y="22585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시작·종료 → 룰베이스 예측과 시간 매칭(몇 분 먼저 맞췄나)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263640" y="2670048"/>
            <a:ext cx="5166360" cy="676656"/>
          </a:xfrm>
          <a:prstGeom prst="roundRect">
            <a:avLst>
              <a:gd name="adj" fmla="val 6757"/>
            </a:avLst>
          </a:prstGeom>
          <a:solidFill>
            <a:srgbClr val="F0FBFA"/>
          </a:solidFill>
          <a:ln/>
        </p:spPr>
      </p:sp>
      <p:sp>
        <p:nvSpPr>
          <p:cNvPr id="27" name="Text 21"/>
          <p:cNvSpPr/>
          <p:nvPr/>
        </p:nvSpPr>
        <p:spPr>
          <a:xfrm>
            <a:off x="6446520" y="27340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fault_type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46520" y="300837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7종 유형 → 유형별 룰베이스 성능 분석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263640" y="3419856"/>
            <a:ext cx="5166360" cy="676656"/>
          </a:xfrm>
          <a:prstGeom prst="roundRect">
            <a:avLst>
              <a:gd name="adj" fmla="val 6757"/>
            </a:avLst>
          </a:prstGeom>
          <a:solidFill>
            <a:srgbClr val="F0FBFA"/>
          </a:solidFill>
          <a:ln/>
        </p:spPr>
      </p:sp>
      <p:sp>
        <p:nvSpPr>
          <p:cNvPr id="30" name="Text 24"/>
          <p:cNvSpPr/>
          <p:nvPr/>
        </p:nvSpPr>
        <p:spPr>
          <a:xfrm>
            <a:off x="6446520" y="34838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46520" y="375818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장비명(4ABLD131 등) → 어느 설비 장애였나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63640" y="4169664"/>
            <a:ext cx="5166360" cy="676656"/>
          </a:xfrm>
          <a:prstGeom prst="roundRect">
            <a:avLst>
              <a:gd name="adj" fmla="val 6757"/>
            </a:avLst>
          </a:prstGeom>
          <a:solidFill>
            <a:srgbClr val="F0FBFA"/>
          </a:solidFill>
          <a:ln/>
        </p:spPr>
      </p:sp>
      <p:sp>
        <p:nvSpPr>
          <p:cNvPr id="33" name="Text 27"/>
          <p:cNvSpPr/>
          <p:nvPr/>
        </p:nvSpPr>
        <p:spPr>
          <a:xfrm>
            <a:off x="6446520" y="42336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duration_min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446520" y="45079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시간 → 심각도 판단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263640" y="4919472"/>
            <a:ext cx="5166360" cy="676656"/>
          </a:xfrm>
          <a:prstGeom prst="roundRect">
            <a:avLst>
              <a:gd name="adj" fmla="val 6757"/>
            </a:avLst>
          </a:prstGeom>
          <a:solidFill>
            <a:srgbClr val="F0FBFA"/>
          </a:solidFill>
          <a:ln/>
        </p:spPr>
      </p:sp>
      <p:sp>
        <p:nvSpPr>
          <p:cNvPr id="36" name="Text 30"/>
          <p:cNvSpPr/>
          <p:nvPr/>
        </p:nvSpPr>
        <p:spPr>
          <a:xfrm>
            <a:off x="6446520" y="4983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message_count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6446520" y="52578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묶인 메시지 수 → 거품 제거 정도 확인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263640" y="5687568"/>
            <a:ext cx="5166360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46520" y="56875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—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 카운트를 제거해 룰베이스 성능을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측정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이 정답지가 있어야 "정밀도 75%"를 신뢰할 수 있다.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li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3 · 리프터 근처 HID 현황  (M16A_BR · 2026-04-21)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만들었나 · 무엇을 이용했나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2668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했나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68680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이용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4692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10" name="Text 7"/>
          <p:cNvSpPr/>
          <p:nvPr/>
        </p:nvSpPr>
        <p:spPr>
          <a:xfrm>
            <a:off x="964692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60704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04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141732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4" name="Image 1" descr="icons/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2728" y="1417320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— 리프터 주변은 병목 지점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77240" y="187452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FFF7ED"/>
          </a:solidFill>
          <a:ln/>
        </p:spPr>
      </p:sp>
      <p:sp>
        <p:nvSpPr>
          <p:cNvPr id="17" name="Text 13"/>
          <p:cNvSpPr/>
          <p:nvPr/>
        </p:nvSpPr>
        <p:spPr>
          <a:xfrm>
            <a:off x="960120" y="20299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리프터(층간 반송 승강기)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주변은 차량이 몰리기 쉬움. 막히면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지연 → 심하면 데드락(교착)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전체 물류 영향.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3337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그래서 "리프터 근처에 1분에 몇 대 오가고 얼마나 붐비는지"를 수치화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77240" y="3886200"/>
            <a:ext cx="5212080" cy="749808"/>
          </a:xfrm>
          <a:prstGeom prst="roundRect">
            <a:avLst>
              <a:gd name="adj" fmla="val 6098"/>
            </a:avLst>
          </a:prstGeom>
          <a:solidFill>
            <a:srgbClr val="F0FBFA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" y="39776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객관적 병목 근거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960120" y="4270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리프터·시간대가 병목인지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77240" y="4727448"/>
            <a:ext cx="5212080" cy="749808"/>
          </a:xfrm>
          <a:prstGeom prst="roundRect">
            <a:avLst>
              <a:gd name="adj" fmla="val 6098"/>
            </a:avLst>
          </a:prstGeom>
          <a:solidFill>
            <a:srgbClr val="F0FBFA"/>
          </a:solidFill>
          <a:ln/>
        </p:spPr>
      </p:sp>
      <p:sp>
        <p:nvSpPr>
          <p:cNvPr id="23" name="Text 19"/>
          <p:cNvSpPr/>
          <p:nvPr/>
        </p:nvSpPr>
        <p:spPr>
          <a:xfrm>
            <a:off x="960120" y="48188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의사결정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960120" y="511149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증설 / 경로·스케줄 조정 자료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263640" y="141732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6" name="Image 2" descr="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39128" y="1417320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이용 — 입력 데이터 4종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74520"/>
          <a:ext cx="5166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80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 IN/OUT 로그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진입·점유 집계 (실측값)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layout.xml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레일·주소·좌표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station.dat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리프터 포트 ↔ 레일 주소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HID_Zone_Master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수용량 → 포화도 분모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635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3"/>
          <p:cNvSpPr/>
          <p:nvPr/>
        </p:nvSpPr>
        <p:spPr>
          <a:xfrm>
            <a:off x="62636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사용 컬럼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263640" y="4480560"/>
            <a:ext cx="5166360" cy="502920"/>
          </a:xfrm>
          <a:prstGeom prst="roundRect">
            <a:avLst>
              <a:gd name="adj" fmla="val 9091"/>
            </a:avLst>
          </a:prstGeom>
          <a:solidFill>
            <a:srgbClr val="F0FBFA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0" y="4480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HID_VALUE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909560" y="44805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점유 차량수 — 추정 없이 실측값 사용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263640" y="5047488"/>
            <a:ext cx="5166360" cy="502920"/>
          </a:xfrm>
          <a:prstGeom prst="roundRect">
            <a:avLst>
              <a:gd name="adj" fmla="val 9091"/>
            </a:avLst>
          </a:prstGeom>
          <a:solidFill>
            <a:srgbClr val="F0FBFA"/>
          </a:solidFill>
          <a:ln/>
        </p:spPr>
      </p:sp>
      <p:sp>
        <p:nvSpPr>
          <p:cNvPr id="34" name="Text 28"/>
          <p:cNvSpPr/>
          <p:nvPr/>
        </p:nvSpPr>
        <p:spPr>
          <a:xfrm>
            <a:off x="6400800" y="50474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TO_HIDID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909560" y="50474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차량이 들어간 HID → 진입 개수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263640" y="5614416"/>
            <a:ext cx="5166360" cy="502920"/>
          </a:xfrm>
          <a:prstGeom prst="roundRect">
            <a:avLst>
              <a:gd name="adj" fmla="val 9091"/>
            </a:avLst>
          </a:prstGeom>
          <a:solidFill>
            <a:srgbClr val="F0FBFA"/>
          </a:solidFill>
          <a:ln/>
        </p:spPr>
      </p:sp>
      <p:sp>
        <p:nvSpPr>
          <p:cNvPr id="37" name="Text 31"/>
          <p:cNvSpPr/>
          <p:nvPr/>
        </p:nvSpPr>
        <p:spPr>
          <a:xfrm>
            <a:off x="6400800" y="561441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Vehicle_Max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7909560" y="561441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수용량 → 포화도 계산 분모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777240" y="6199632"/>
            <a:ext cx="10652760" cy="502920"/>
          </a:xfrm>
          <a:prstGeom prst="roundRect">
            <a:avLst>
              <a:gd name="adj" fmla="val 10909"/>
            </a:avLst>
          </a:prstGeom>
          <a:solidFill>
            <a:srgbClr val="0E2A3B"/>
          </a:solidFill>
          <a:ln/>
        </p:spPr>
      </p:sp>
      <p:sp>
        <p:nvSpPr>
          <p:cNvPr id="40" name="Text 34"/>
          <p:cNvSpPr/>
          <p:nvPr/>
        </p:nvSpPr>
        <p:spPr>
          <a:xfrm>
            <a:off x="1005840" y="61996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란?  </a:t>
            </a:r>
            <a:pPr indent="0" marL="0">
              <a:buNone/>
            </a:pPr>
            <a:r>
              <a:rPr lang="en-US" sz="11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OHT 레일을 나눈 인터록 구역(혼잡 관리 단위). 차량이 구역을 넘을 때마다 로그가 남는다.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3 · 리프터 근처 HID 현황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만들었나 · 결과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2668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했나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68680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DF1F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이용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4692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964692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607040" y="53035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040" y="530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141732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4" name="Image 1" descr="icons/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2728" y="1417320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— 처리 4단계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77240" y="18745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</p:spPr>
      </p:sp>
      <p:sp>
        <p:nvSpPr>
          <p:cNvPr id="17" name="Shape 13"/>
          <p:cNvSpPr/>
          <p:nvPr/>
        </p:nvSpPr>
        <p:spPr>
          <a:xfrm>
            <a:off x="932688" y="2075688"/>
            <a:ext cx="438912" cy="438912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8" name="Text 14"/>
          <p:cNvSpPr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508760" y="1984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위치 파악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508760" y="229514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station.dat + layout.xml → 17기 포트·좌표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697480" y="26974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77240" y="2843784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</p:spPr>
      </p:sp>
      <p:sp>
        <p:nvSpPr>
          <p:cNvPr id="23" name="Shape 19"/>
          <p:cNvSpPr/>
          <p:nvPr/>
        </p:nvSpPr>
        <p:spPr>
          <a:xfrm>
            <a:off x="932688" y="3044952"/>
            <a:ext cx="438912" cy="438912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24" name="Text 20"/>
          <p:cNvSpPr/>
          <p:nvPr/>
        </p:nvSpPr>
        <p:spPr>
          <a:xfrm>
            <a:off x="932688" y="3044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508760" y="29535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→ HID 매핑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508760" y="32644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경계가 가장 가까운 HID 연결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2697480" y="366674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77240" y="3813048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</p:spPr>
      </p:sp>
      <p:sp>
        <p:nvSpPr>
          <p:cNvPr id="29" name="Shape 25"/>
          <p:cNvSpPr/>
          <p:nvPr/>
        </p:nvSpPr>
        <p:spPr>
          <a:xfrm>
            <a:off x="932688" y="4014216"/>
            <a:ext cx="438912" cy="438912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30" name="Text 26"/>
          <p:cNvSpPr/>
          <p:nvPr/>
        </p:nvSpPr>
        <p:spPr>
          <a:xfrm>
            <a:off x="932688" y="4014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508760" y="392277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단위 집계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1508760" y="42336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진입(중복 제거)·점유(실측)·포화도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2697480" y="463600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77240" y="4782312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</p:spPr>
      </p:sp>
      <p:sp>
        <p:nvSpPr>
          <p:cNvPr id="35" name="Shape 31"/>
          <p:cNvSpPr/>
          <p:nvPr/>
        </p:nvSpPr>
        <p:spPr>
          <a:xfrm>
            <a:off x="932688" y="4983480"/>
            <a:ext cx="438912" cy="438912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36" name="Text 32"/>
          <p:cNvSpPr/>
          <p:nvPr/>
        </p:nvSpPr>
        <p:spPr>
          <a:xfrm>
            <a:off x="932688" y="4983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1508760" y="48920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산출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1508760" y="520293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결과.csv (시각 × 리프터 × 지표)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166360" y="1463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14:04 기준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810512"/>
          <a:ext cx="4160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54864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리프터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포화도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4ABLD111~,H401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18/30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6ABL6021/6031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HID33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6/30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6ABL6011/12/32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HID32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8/30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6ABL0111/0112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HID24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6/30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6ABL0121/0122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HID28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5/30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9555480" y="1810512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9646920" y="19385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포화도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9555480" y="221284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4000" dirty="0"/>
          </a:p>
        </p:txBody>
      </p:sp>
      <p:sp>
        <p:nvSpPr>
          <p:cNvPr id="44" name="Text 39"/>
          <p:cNvSpPr/>
          <p:nvPr/>
        </p:nvSpPr>
        <p:spPr>
          <a:xfrm>
            <a:off x="955548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14:52 · HID24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CA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순간 병목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5166360" y="4041648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46" name="Image 2" descr="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133088"/>
            <a:ext cx="182880" cy="18288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641848" y="4041648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읽나 (해석)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5166360" y="4498848"/>
            <a:ext cx="6263640" cy="484632"/>
          </a:xfrm>
          <a:prstGeom prst="roundRect">
            <a:avLst>
              <a:gd name="adj" fmla="val 9434"/>
            </a:avLst>
          </a:prstGeom>
          <a:solidFill>
            <a:srgbClr val="F0FBFA"/>
          </a:solidFill>
          <a:ln/>
        </p:spPr>
      </p:sp>
      <p:sp>
        <p:nvSpPr>
          <p:cNvPr id="49" name="Text 43"/>
          <p:cNvSpPr/>
          <p:nvPr/>
        </p:nvSpPr>
        <p:spPr>
          <a:xfrm>
            <a:off x="5321808" y="4498848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포화도 높음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7406640" y="4498848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구역이 거의 참 → 근처 리프터 반송 정체 위험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5166360" y="5047488"/>
            <a:ext cx="6263640" cy="484632"/>
          </a:xfrm>
          <a:prstGeom prst="roundRect">
            <a:avLst>
              <a:gd name="adj" fmla="val 9434"/>
            </a:avLst>
          </a:prstGeom>
          <a:solidFill>
            <a:srgbClr val="F0FBFA"/>
          </a:solidFill>
          <a:ln/>
        </p:spPr>
      </p:sp>
      <p:sp>
        <p:nvSpPr>
          <p:cNvPr id="52" name="Text 46"/>
          <p:cNvSpPr/>
          <p:nvPr/>
        </p:nvSpPr>
        <p:spPr>
          <a:xfrm>
            <a:off x="5321808" y="5047488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순간 스파이크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7406640" y="5047488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1분 급등 → 일시 병목 (잠깐 몰림)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5166360" y="5596128"/>
            <a:ext cx="6263640" cy="484632"/>
          </a:xfrm>
          <a:prstGeom prst="roundRect">
            <a:avLst>
              <a:gd name="adj" fmla="val 9434"/>
            </a:avLst>
          </a:prstGeom>
          <a:solidFill>
            <a:srgbClr val="F0FBFA"/>
          </a:solidFill>
          <a:ln/>
        </p:spPr>
      </p:sp>
      <p:sp>
        <p:nvSpPr>
          <p:cNvPr id="55" name="Text 49"/>
          <p:cNvSpPr/>
          <p:nvPr/>
        </p:nvSpPr>
        <p:spPr>
          <a:xfrm>
            <a:off x="5321808" y="5596128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 적은데 포화 높음</a:t>
            </a:r>
            <a:endParaRPr lang="en-US" sz="1100" dirty="0"/>
          </a:p>
        </p:txBody>
      </p:sp>
      <p:sp>
        <p:nvSpPr>
          <p:cNvPr id="56" name="Text 50"/>
          <p:cNvSpPr/>
          <p:nvPr/>
        </p:nvSpPr>
        <p:spPr>
          <a:xfrm>
            <a:off x="7406640" y="5596128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빠져나가질 못함 → 하류 정체 의심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777240" y="6199632"/>
            <a:ext cx="1065276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1005840" y="61996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 리프터·시간대 식별→모니터링/경보 · 순간 병목 추적 · 개선 근거</a:t>
            </a:r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산출물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결과.csv (1분×17기) · 자동화 도구 2종</a:t>
            </a:r>
            <a:endParaRPr lang="en-US" sz="1100" dirty="0"/>
          </a:p>
        </p:txBody>
      </p:sp>
      <p:sp>
        <p:nvSpPr>
          <p:cNvPr id="59" name="Text 53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— 세 작업의 관계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1248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정답지 생성(파서) + 정체 예측(룰베이스) + 현장 병목 가시화(리프터 HID)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운영로그 파서 V2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정답지(Episode)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97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룰베이스 v6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예측 사건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1945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94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/ 채점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1945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863840" y="219456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091E2B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19456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메신저보다 30~60분 먼저
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있게 검증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7033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1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886200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3040" y="388620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정체 예측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" y="42976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룰베이스 고도화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51560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등급 정밀도 75% · 평균 +32분 사전예측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80560" y="37033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21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886200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20640" y="388620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정답지 생성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09160" y="42976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운영로그 파서 V2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4709160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거품 47% 제거 · 정확한 채점 기반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138160" y="37033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26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886200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778240" y="388620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병목 가시화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366760" y="42976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HID 현황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8366760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17기 1분 포화도 · 하루 최대 83% 병목 포착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22960" y="54406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1097280" y="55412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30~60분</a:t>
            </a:r>
            <a:endParaRPr lang="en-US" sz="2800" dirty="0"/>
          </a:p>
        </p:txBody>
      </p:sp>
      <p:sp>
        <p:nvSpPr>
          <p:cNvPr id="32" name="Text 27"/>
          <p:cNvSpPr/>
          <p:nvPr/>
        </p:nvSpPr>
        <p:spPr>
          <a:xfrm>
            <a:off x="1115568" y="6126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메신저보다 빠른 예측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480560" y="54406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4754880" y="55412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75%</a:t>
            </a:r>
            <a:endParaRPr lang="en-US" sz="2800" dirty="0"/>
          </a:p>
        </p:txBody>
      </p:sp>
      <p:sp>
        <p:nvSpPr>
          <p:cNvPr id="35" name="Text 30"/>
          <p:cNvSpPr/>
          <p:nvPr/>
        </p:nvSpPr>
        <p:spPr>
          <a:xfrm>
            <a:off x="4773168" y="6126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등급 정밀도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8138160" y="54406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8412480" y="55412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2800" dirty="0"/>
          </a:p>
        </p:txBody>
      </p:sp>
      <p:sp>
        <p:nvSpPr>
          <p:cNvPr id="38" name="Text 33"/>
          <p:cNvSpPr/>
          <p:nvPr/>
        </p:nvSpPr>
        <p:spPr>
          <a:xfrm>
            <a:off x="8430768" y="6126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최대 포화도(병목)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M16A HUBROOM 작업 상세 설명 (고객용)</dc:title>
  <dc:subject>PptxGenJS Presentation</dc:subject>
  <dc:creator>John Forrest</dc:creator>
  <cp:lastModifiedBy>John Forrest</cp:lastModifiedBy>
  <cp:revision>1</cp:revision>
  <dcterms:created xsi:type="dcterms:W3CDTF">2026-06-16T07:14:18Z</dcterms:created>
  <dcterms:modified xsi:type="dcterms:W3CDTF">2026-06-16T07:14:18Z</dcterms:modified>
</cp:coreProperties>
</file>