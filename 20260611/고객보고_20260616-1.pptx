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206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장표 1 · 반도체 FAB AMHS 정체 예측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325880" y="70408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데이터로 · LLM으로 룰베이스를 자동 생성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77240" y="132588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6" name="Image 1" descr="icons/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52728" y="1325880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데이터 — Fab Star 데이터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55648"/>
          <a:ext cx="52120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7947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종류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Fab Star 데이터 (반송·저장·설비 메트릭)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컬럼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255개 (수집 가능 전체)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수집 단위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매분 (1분 1행)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취합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각 Fab(M14·M14B·M16A·M16B·M16HUB) 통합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파일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M16A_HUBROOM_PR.csv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BFA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263640" y="132588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10" name="Image 2" descr="icons/mag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17320"/>
            <a:ext cx="182880" cy="1828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39128" y="1325880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— LLM으로 규칙을 자동 생성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6263640" y="1755648"/>
            <a:ext cx="1691640" cy="749808"/>
          </a:xfrm>
          <a:prstGeom prst="roundRect">
            <a:avLst>
              <a:gd name="adj" fmla="val 8537"/>
            </a:avLst>
          </a:prstGeom>
          <a:solidFill>
            <a:srgbClr val="091E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6263640" y="1755648"/>
            <a:ext cx="1691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 데이터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255 컬럼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7909560" y="1755648"/>
            <a:ext cx="365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9"/>
          <p:cNvSpPr/>
          <p:nvPr/>
        </p:nvSpPr>
        <p:spPr>
          <a:xfrm>
            <a:off x="8302752" y="1755648"/>
            <a:ext cx="1828800" cy="749808"/>
          </a:xfrm>
          <a:prstGeom prst="roundRect">
            <a:avLst>
              <a:gd name="adj" fmla="val 8537"/>
            </a:avLst>
          </a:prstGeom>
          <a:solidFill>
            <a:srgbClr val="14B8A6"/>
          </a:solidFill>
          <a:ln/>
        </p:spPr>
      </p:sp>
      <p:sp>
        <p:nvSpPr>
          <p:cNvPr id="16" name="Text 10"/>
          <p:cNvSpPr/>
          <p:nvPr/>
        </p:nvSpPr>
        <p:spPr>
          <a:xfrm>
            <a:off x="8302752" y="175564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자동 생성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0085832" y="1755648"/>
            <a:ext cx="365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10479024" y="1755648"/>
            <a:ext cx="1691640" cy="749808"/>
          </a:xfrm>
          <a:prstGeom prst="roundRect">
            <a:avLst>
              <a:gd name="adj" fmla="val 8537"/>
            </a:avLst>
          </a:prstGeom>
          <a:solidFill>
            <a:srgbClr val="091E2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0479024" y="1755648"/>
            <a:ext cx="1691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8영역 × 9룰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룰베이스 v6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263640" y="2596896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임계·조건을 일일이 정의하던 방식 → LLM이 Star 패턴을 학습해 영역·시나리오별 규칙을 자동 생성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77240" y="3310128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22" name="Image 3" descr="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401568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52728" y="3310128"/>
            <a:ext cx="10131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생성한 규칙  ↔  규칙에 쓰인 Star 원본 컬럼 (발췌)</a:t>
            </a:r>
            <a:endParaRPr lang="en-US" sz="14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730752"/>
          <a:ext cx="106527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600200"/>
                <a:gridCol w="3703320"/>
                <a:gridCol w="374904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 (LLM 생성)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원본 Star 컬럼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컬럼이 측정하는 것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R-A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≥ 9.0분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{영역}.QUE.TIME.AVGTOTALTIME1MIN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짐 출발~도착 평균 시간 (최근 1분)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R-B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+84건 / 30분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{영역}.QUE.ALL.{n}F_TO_HUB_JOB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층(6F/10F)→HUB 대기 작업 수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R-C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≥4대 역증가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6ABL60xx / 6ABL01xx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개별 리프터 큐 카운트 (줄어야 정상)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R-D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≥ 99.3%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M16HUB.STRATE.STB.3F_STORAGE_UTIL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STB(3F) 저장 창고 사용률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SLA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≥ 14.05%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{영역}.QUE.ALL.TRANSPORT4MINOVERRATIO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4분 넘게 못 옮긴 짐 비율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%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흐름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≥ 평균 3.0배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E2A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{영역}.QUE.ALL.2F_TO_HUB_JOB 등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경로 대기수 ÷ 30분 평균 (배수)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508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17"/>
          <p:cNvSpPr/>
          <p:nvPr/>
        </p:nvSpPr>
        <p:spPr>
          <a:xfrm>
            <a:off x="777240" y="63550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 구조: 영역.분류.세부.지표  (예: M16A.QUE.ALL.6F_TO_HUB_JOB = M16A 영역의 큐 중 6층→HUB 대기 작업 수)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206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장표 2 · 큐브 파서 (Cube Parser) — 2026-05-25 실사례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325880" y="70408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큐브 메시지 → 정답(Episode) → Star 매칭 → 룰베이스 고도화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77240" y="137160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6" name="Image 1" descr="icons/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52728" y="1371600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입력 — 큐브 메시지 통째로 (5/25, 발췌)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77240" y="1810512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0E2A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4400" y="192024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16:14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600200" y="192024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6AFS6201 IN 늘고 있는데요 ERROR있나요?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257800" y="192024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fault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14400" y="2188159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17:04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600200" y="2188159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M16A ZT Max Capa 50%변경 부탁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257800" y="2188159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action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914400" y="245607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18:34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600200" y="245607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Deadlock 으로 OHT 정체중입니다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257800" y="245607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CA9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★fault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914400" y="272399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19:51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600200" y="272399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m16a full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257800" y="272399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fault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914400" y="2991917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19:59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600200" y="2991917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[봇] RED: CURRENTQCNT 2007 ≥ 2000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5257800" y="2991917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CA9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alarm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914400" y="325983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20:16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600200" y="325983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M16A Storage full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5257800" y="3259836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fault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914400" y="3527755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22:15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600200" y="3527755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M16B/M16A Storage 불안정. 관리 부탁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257800" y="3527755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fault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914400" y="378653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3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구간 내 수십 건 (장애 + 조치 + 일반 대화 + 시스템 알람 혼재)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777240" y="4224528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32" name="Image 2" descr="icons/lay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15968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252728" y="4224528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LLM 파서 — 같은 장애를 Episode로 묶음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777240" y="466344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FF7ED"/>
          </a:solidFill>
          <a:ln/>
        </p:spPr>
      </p:sp>
      <p:sp>
        <p:nvSpPr>
          <p:cNvPr id="35" name="Text 30"/>
          <p:cNvSpPr/>
          <p:nvPr/>
        </p:nvSpPr>
        <p:spPr>
          <a:xfrm>
            <a:off x="914400" y="466344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한계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1건=장애 1건 → 같은 장애 여러 채팅이 </a:t>
            </a:r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152건으로 부풀려짐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777240" y="5321808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ECFDF5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960120" y="541324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— Episode 1건 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18:34~22:15 · 정체·병목 · M16A/HUB 저장 정체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CAPA변경·일반대화는 거품으로 자동 제외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6400800" y="137160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39" name="Image 3" descr="icons/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463040"/>
            <a:ext cx="182880" cy="18288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876288" y="1371600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Star 데이터 매칭 — 그 시각 실측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810512"/>
          <a:ext cx="50292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914400"/>
                <a:gridCol w="960120"/>
                <a:gridCol w="960120"/>
                <a:gridCol w="14173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반송큐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반송시간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STB저장%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18:34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1,408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8.1분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79%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Deadlock 시작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19:00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1,560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9.4분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973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 가득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19:59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12.9분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96%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★RED 임계돌파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20:19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973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2,151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6.5분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최고점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22:15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892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5.7분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9731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큐 정상화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" name="Text 35"/>
          <p:cNvSpPr/>
          <p:nvPr/>
        </p:nvSpPr>
        <p:spPr>
          <a:xfrm>
            <a:off x="640080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 1,408(18:34) → 2,007(19:59) → 2,151(20:19). "Deadlock" 채팅 시점에 이미 정체 진행 중.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6400800" y="416052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44" name="Image 4" descr="icons/syn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251960"/>
            <a:ext cx="182880" cy="18288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876288" y="4160520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최종 목적 — 룰베이스와의 시너지</a:t>
            </a:r>
            <a:endParaRPr lang="en-US" sz="1400" dirty="0"/>
          </a:p>
        </p:txBody>
      </p:sp>
      <p:sp>
        <p:nvSpPr>
          <p:cNvPr id="46" name="Shape 38"/>
          <p:cNvSpPr/>
          <p:nvPr/>
        </p:nvSpPr>
        <p:spPr>
          <a:xfrm>
            <a:off x="6400800" y="4599432"/>
            <a:ext cx="5029200" cy="914400"/>
          </a:xfrm>
          <a:prstGeom prst="roundRect">
            <a:avLst>
              <a:gd name="adj" fmla="val 6000"/>
            </a:avLst>
          </a:prstGeom>
          <a:solidFill>
            <a:srgbClr val="F0FBFA"/>
          </a:solidFill>
          <a:ln/>
        </p:spPr>
      </p:sp>
      <p:sp>
        <p:nvSpPr>
          <p:cNvPr id="47" name="Text 39"/>
          <p:cNvSpPr/>
          <p:nvPr/>
        </p:nvSpPr>
        <p:spPr>
          <a:xfrm>
            <a:off x="6583680" y="4599432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Episode(정답)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을 그 시각 </a:t>
            </a:r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 데이터와 매칭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"실제 장애일 때 메트릭이 이랬다"가 드러남 → 이 </a:t>
            </a:r>
            <a:pPr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패턴을 LLM 룰베이스(장표 1)가 학습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더 일찍·정확히 잡도록 진화.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6400800" y="5623560"/>
            <a:ext cx="5029200" cy="713232"/>
          </a:xfrm>
          <a:prstGeom prst="roundRect">
            <a:avLst>
              <a:gd name="adj" fmla="val 7692"/>
            </a:avLst>
          </a:prstGeom>
          <a:solidFill>
            <a:srgbClr val="0E2A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9" name="Text 41"/>
          <p:cNvSpPr/>
          <p:nvPr/>
        </p:nvSpPr>
        <p:spPr>
          <a:xfrm>
            <a:off x="6583680" y="5623560"/>
            <a:ext cx="4709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25분 먼저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18:34 신호 포착이 시스템 RED 알람(19:59)보다 앞섬</a:t>
            </a:r>
            <a:endParaRPr lang="en-US" sz="1700" dirty="0"/>
          </a:p>
        </p:txBody>
      </p:sp>
      <p:sp>
        <p:nvSpPr>
          <p:cNvPr id="50" name="Text 42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 데이터 + LLM 룰베이스 / 큐브 파서 (고객 보고 2장)</dc:title>
  <dc:subject>PptxGenJS Presentation</dc:subject>
  <dc:creator>John Forrest</dc:creator>
  <cp:lastModifiedBy>John Forrest</cp:lastModifiedBy>
  <cp:revision>1</cp:revision>
  <dcterms:created xsi:type="dcterms:W3CDTF">2026-06-16T09:09:30Z</dcterms:created>
  <dcterms:modified xsi:type="dcterms:W3CDTF">2026-06-16T09:09:30Z</dcterms:modified>
</cp:coreProperties>
</file>